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6"/>
  </p:notes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22"/>
    <p:restoredTop sz="94694"/>
  </p:normalViewPr>
  <p:slideViewPr>
    <p:cSldViewPr snapToGrid="0">
      <p:cViewPr>
        <p:scale>
          <a:sx n="99" d="100"/>
          <a:sy n="99" d="100"/>
        </p:scale>
        <p:origin x="392" y="6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C3C65B-01CE-5540-93BE-D408BE2A53BC}" type="datetimeFigureOut">
              <a:rPr lang="en-US" smtClean="0"/>
              <a:t>11/30/25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91D3AB-201D-9E48-BD07-1C40A05AC805}" type="slidenum">
              <a:rPr lang="en-US" smtClean="0"/>
              <a:t>‹#›</a:t>
            </a:fld>
            <a:endParaRPr lang="en-US"/>
          </a:p>
        </p:txBody>
      </p:sp>
    </p:spTree>
    <p:extLst>
      <p:ext uri="{BB962C8B-B14F-4D97-AF65-F5344CB8AC3E}">
        <p14:creationId xmlns:p14="http://schemas.microsoft.com/office/powerpoint/2010/main" val="18462392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slide shows the salary range of data science jobs by employee residence. The pivot table shows mean, median, min and max salary in USD for both offshore and US employee residences. Employee residence is a better indicator to get an idea of what the regions are paying in data science roles. The box plot shows the data in the pivot table showing us the IQR and outliers of salary in USD by US. There seems to be no significant skew showing salaries seem to be both evenly distributed by US and offshore. The boxplot also shows a significant amount of outliers closer to the data set for offshore while the one’s for the US are a bit farther from the data set. This can cause a skew to the right but it is not significant.</a:t>
            </a:r>
          </a:p>
        </p:txBody>
      </p:sp>
      <p:sp>
        <p:nvSpPr>
          <p:cNvPr id="4" name="Slide Number Placeholder 3"/>
          <p:cNvSpPr>
            <a:spLocks noGrp="1"/>
          </p:cNvSpPr>
          <p:nvPr>
            <p:ph type="sldNum" sz="quarter" idx="5"/>
          </p:nvPr>
        </p:nvSpPr>
        <p:spPr/>
        <p:txBody>
          <a:bodyPr/>
          <a:lstStyle/>
          <a:p>
            <a:fld id="{3191D3AB-201D-9E48-BD07-1C40A05AC805}" type="slidenum">
              <a:rPr lang="en-US" smtClean="0"/>
              <a:t>2</a:t>
            </a:fld>
            <a:endParaRPr lang="en-US"/>
          </a:p>
        </p:txBody>
      </p:sp>
    </p:spTree>
    <p:extLst>
      <p:ext uri="{BB962C8B-B14F-4D97-AF65-F5344CB8AC3E}">
        <p14:creationId xmlns:p14="http://schemas.microsoft.com/office/powerpoint/2010/main" val="1299898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 table on this slide shows mean, median, min and max of each experience level by employee residence in the US or offshore. From the boxplot we can visibly tell that for each role the US pays more than offshore. Experience has a direct effect in salary you can tell by looking at the experience levels in the boxplot and seeing how our box goes up as the experience level increases. </a:t>
            </a:r>
          </a:p>
        </p:txBody>
      </p:sp>
      <p:sp>
        <p:nvSpPr>
          <p:cNvPr id="4" name="Slide Number Placeholder 3"/>
          <p:cNvSpPr>
            <a:spLocks noGrp="1"/>
          </p:cNvSpPr>
          <p:nvPr>
            <p:ph type="sldNum" sz="quarter" idx="5"/>
          </p:nvPr>
        </p:nvSpPr>
        <p:spPr/>
        <p:txBody>
          <a:bodyPr/>
          <a:lstStyle/>
          <a:p>
            <a:fld id="{3191D3AB-201D-9E48-BD07-1C40A05AC805}" type="slidenum">
              <a:rPr lang="en-US" smtClean="0"/>
              <a:t>3</a:t>
            </a:fld>
            <a:endParaRPr lang="en-US"/>
          </a:p>
        </p:txBody>
      </p:sp>
    </p:spTree>
    <p:extLst>
      <p:ext uri="{BB962C8B-B14F-4D97-AF65-F5344CB8AC3E}">
        <p14:creationId xmlns:p14="http://schemas.microsoft.com/office/powerpoint/2010/main" val="16501230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Based off my analysis it is best to hire a senior level data science who has experience but is not an executive. The mean salary for this role is $167k. This seems reasonable considering the experience and the possibility that they could be leading a team at some point. </a:t>
            </a:r>
          </a:p>
        </p:txBody>
      </p:sp>
      <p:sp>
        <p:nvSpPr>
          <p:cNvPr id="4" name="Slide Number Placeholder 3"/>
          <p:cNvSpPr>
            <a:spLocks noGrp="1"/>
          </p:cNvSpPr>
          <p:nvPr>
            <p:ph type="sldNum" sz="quarter" idx="5"/>
          </p:nvPr>
        </p:nvSpPr>
        <p:spPr/>
        <p:txBody>
          <a:bodyPr/>
          <a:lstStyle/>
          <a:p>
            <a:fld id="{3191D3AB-201D-9E48-BD07-1C40A05AC805}" type="slidenum">
              <a:rPr lang="en-US" smtClean="0"/>
              <a:t>4</a:t>
            </a:fld>
            <a:endParaRPr lang="en-US"/>
          </a:p>
        </p:txBody>
      </p:sp>
    </p:spTree>
    <p:extLst>
      <p:ext uri="{BB962C8B-B14F-4D97-AF65-F5344CB8AC3E}">
        <p14:creationId xmlns:p14="http://schemas.microsoft.com/office/powerpoint/2010/main" val="7476747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11/30/25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91087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11/30/25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342953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11/30/25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941314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11/30/25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9827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11/30/25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46100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11/30/25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17379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11/30/25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464880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11/30/25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211634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11/30/25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31148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11/30/25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477976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11/30/25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82266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11/30/25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06111074"/>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8.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5CB65D0-496F-4797-A015-C85839E35D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Graph on document with pen">
            <a:extLst>
              <a:ext uri="{FF2B5EF4-FFF2-40B4-BE49-F238E27FC236}">
                <a16:creationId xmlns:a16="http://schemas.microsoft.com/office/drawing/2014/main" id="{36844B56-25D6-8FE6-B339-8D70AC937BA9}"/>
              </a:ext>
            </a:extLst>
          </p:cNvPr>
          <p:cNvPicPr>
            <a:picLocks noChangeAspect="1"/>
          </p:cNvPicPr>
          <p:nvPr/>
        </p:nvPicPr>
        <p:blipFill>
          <a:blip r:embed="rId2"/>
          <a:srcRect t="1511" b="14220"/>
          <a:stretch>
            <a:fillRect/>
          </a:stretch>
        </p:blipFill>
        <p:spPr>
          <a:xfrm>
            <a:off x="1" y="10"/>
            <a:ext cx="12192000" cy="6857989"/>
          </a:xfrm>
          <a:prstGeom prst="rect">
            <a:avLst/>
          </a:prstGeom>
        </p:spPr>
      </p:pic>
      <p:sp>
        <p:nvSpPr>
          <p:cNvPr id="11" name="Rectangle 10">
            <a:extLst>
              <a:ext uri="{FF2B5EF4-FFF2-40B4-BE49-F238E27FC236}">
                <a16:creationId xmlns:a16="http://schemas.microsoft.com/office/drawing/2014/main" id="{95D2C779-8883-4E5F-A170-0F464918C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307" y="990598"/>
            <a:ext cx="12188952" cy="4745182"/>
          </a:xfrm>
          <a:prstGeom prst="rect">
            <a:avLst/>
          </a:prstGeom>
          <a:gradFill>
            <a:gsLst>
              <a:gs pos="35000">
                <a:srgbClr val="000000">
                  <a:alpha val="41000"/>
                </a:srgbClr>
              </a:gs>
              <a:gs pos="0">
                <a:srgbClr val="000000">
                  <a:alpha val="0"/>
                </a:srgbClr>
              </a:gs>
              <a:gs pos="47744">
                <a:srgbClr val="000000">
                  <a:alpha val="51000"/>
                </a:srgbClr>
              </a:gs>
              <a:gs pos="70000">
                <a:srgbClr val="000000">
                  <a:alpha val="37000"/>
                </a:srgbClr>
              </a:gs>
              <a:gs pos="100000">
                <a:srgbClr val="000000">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593E5C-CF65-860B-C800-A36B99A9DB0E}"/>
              </a:ext>
            </a:extLst>
          </p:cNvPr>
          <p:cNvSpPr>
            <a:spLocks noGrp="1"/>
          </p:cNvSpPr>
          <p:nvPr>
            <p:ph type="ctrTitle"/>
          </p:nvPr>
        </p:nvSpPr>
        <p:spPr>
          <a:xfrm>
            <a:off x="1833541" y="990599"/>
            <a:ext cx="5619054" cy="4849091"/>
          </a:xfrm>
        </p:spPr>
        <p:txBody>
          <a:bodyPr anchor="ctr">
            <a:normAutofit/>
          </a:bodyPr>
          <a:lstStyle/>
          <a:p>
            <a:pPr algn="r"/>
            <a:r>
              <a:rPr lang="en-US">
                <a:solidFill>
                  <a:srgbClr val="FFFFFF"/>
                </a:solidFill>
              </a:rPr>
              <a:t>Salary Analysis</a:t>
            </a:r>
          </a:p>
        </p:txBody>
      </p:sp>
      <p:sp>
        <p:nvSpPr>
          <p:cNvPr id="3" name="Subtitle 2">
            <a:extLst>
              <a:ext uri="{FF2B5EF4-FFF2-40B4-BE49-F238E27FC236}">
                <a16:creationId xmlns:a16="http://schemas.microsoft.com/office/drawing/2014/main" id="{20AA0746-59B4-27F6-E8A2-7157FF12CE74}"/>
              </a:ext>
            </a:extLst>
          </p:cNvPr>
          <p:cNvSpPr>
            <a:spLocks noGrp="1"/>
          </p:cNvSpPr>
          <p:nvPr>
            <p:ph type="subTitle" idx="1"/>
          </p:nvPr>
        </p:nvSpPr>
        <p:spPr>
          <a:xfrm>
            <a:off x="8712865" y="1447799"/>
            <a:ext cx="2368905" cy="4076699"/>
          </a:xfrm>
        </p:spPr>
        <p:txBody>
          <a:bodyPr anchor="ctr">
            <a:normAutofit/>
          </a:bodyPr>
          <a:lstStyle/>
          <a:p>
            <a:r>
              <a:rPr lang="en-US">
                <a:solidFill>
                  <a:srgbClr val="FFFFFF"/>
                </a:solidFill>
              </a:rPr>
              <a:t>Ruby Delacruz</a:t>
            </a:r>
          </a:p>
        </p:txBody>
      </p:sp>
      <p:cxnSp>
        <p:nvCxnSpPr>
          <p:cNvPr id="13" name="Straight Connector 12">
            <a:extLst>
              <a:ext uri="{FF2B5EF4-FFF2-40B4-BE49-F238E27FC236}">
                <a16:creationId xmlns:a16="http://schemas.microsoft.com/office/drawing/2014/main" id="{BD96A694-258D-4418-A83C-B9BA72FD44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115300" y="1780927"/>
            <a:ext cx="0" cy="3390901"/>
          </a:xfrm>
          <a:prstGeom prst="line">
            <a:avLst/>
          </a:prstGeom>
          <a:ln w="44450">
            <a:solidFill>
              <a:srgbClr val="FFFFFF"/>
            </a:solidFill>
          </a:ln>
          <a:effectLst>
            <a:outerShdw blurRad="50800" dist="38100" dir="2700000" sx="88000" sy="88000" algn="tl" rotWithShape="0">
              <a:prstClr val="black">
                <a:alpha val="26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794093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6" name="Straight Connector 25">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0" name="Rectangle 29">
            <a:extLst>
              <a:ext uri="{FF2B5EF4-FFF2-40B4-BE49-F238E27FC236}">
                <a16:creationId xmlns:a16="http://schemas.microsoft.com/office/drawing/2014/main" id="{341BFA31-6544-45C2-9DA0-9E1C5E0B19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CAC412-32A2-AC65-2C42-B99FDCCC145C}"/>
              </a:ext>
            </a:extLst>
          </p:cNvPr>
          <p:cNvSpPr>
            <a:spLocks noGrp="1"/>
          </p:cNvSpPr>
          <p:nvPr>
            <p:ph type="title"/>
          </p:nvPr>
        </p:nvSpPr>
        <p:spPr>
          <a:xfrm>
            <a:off x="99304" y="4788763"/>
            <a:ext cx="4946199" cy="925950"/>
          </a:xfrm>
        </p:spPr>
        <p:txBody>
          <a:bodyPr vert="horz" lIns="91440" tIns="45720" rIns="91440" bIns="45720" rtlCol="0" anchor="t">
            <a:normAutofit/>
          </a:bodyPr>
          <a:lstStyle/>
          <a:p>
            <a:r>
              <a:rPr lang="en-US" sz="5400" dirty="0"/>
              <a:t>Salary range</a:t>
            </a:r>
          </a:p>
        </p:txBody>
      </p:sp>
      <p:sp>
        <p:nvSpPr>
          <p:cNvPr id="4" name="Text Placeholder 3">
            <a:extLst>
              <a:ext uri="{FF2B5EF4-FFF2-40B4-BE49-F238E27FC236}">
                <a16:creationId xmlns:a16="http://schemas.microsoft.com/office/drawing/2014/main" id="{272DE0D5-F6AE-6132-E9FC-34882C59EC5B}"/>
              </a:ext>
            </a:extLst>
          </p:cNvPr>
          <p:cNvSpPr>
            <a:spLocks noGrp="1"/>
          </p:cNvSpPr>
          <p:nvPr>
            <p:ph type="body" sz="half" idx="2"/>
          </p:nvPr>
        </p:nvSpPr>
        <p:spPr>
          <a:xfrm>
            <a:off x="695325" y="5731877"/>
            <a:ext cx="3894963" cy="429622"/>
          </a:xfrm>
        </p:spPr>
        <p:txBody>
          <a:bodyPr vert="horz" lIns="91440" tIns="45720" rIns="91440" bIns="45720" rtlCol="0" anchor="t">
            <a:normAutofit fontScale="55000" lnSpcReduction="20000"/>
          </a:bodyPr>
          <a:lstStyle/>
          <a:p>
            <a:r>
              <a:rPr lang="en-US" sz="2000" dirty="0"/>
              <a:t>The average salary of data science roles  in the  US is about $149k while the average salary offshore is $67k. </a:t>
            </a:r>
          </a:p>
        </p:txBody>
      </p:sp>
      <p:pic>
        <p:nvPicPr>
          <p:cNvPr id="10" name="Picture 9" descr="A screenshot of a phone&#10;&#10;AI-generated content may be incorrect.">
            <a:extLst>
              <a:ext uri="{FF2B5EF4-FFF2-40B4-BE49-F238E27FC236}">
                <a16:creationId xmlns:a16="http://schemas.microsoft.com/office/drawing/2014/main" id="{6B8D310D-808A-927B-DA55-8AD7C13DD347}"/>
              </a:ext>
            </a:extLst>
          </p:cNvPr>
          <p:cNvPicPr>
            <a:picLocks noChangeAspect="1"/>
          </p:cNvPicPr>
          <p:nvPr/>
        </p:nvPicPr>
        <p:blipFill>
          <a:blip r:embed="rId3"/>
          <a:stretch>
            <a:fillRect/>
          </a:stretch>
        </p:blipFill>
        <p:spPr>
          <a:xfrm>
            <a:off x="4861991" y="5048454"/>
            <a:ext cx="5134573" cy="1450516"/>
          </a:xfrm>
          <a:prstGeom prst="rect">
            <a:avLst/>
          </a:prstGeom>
        </p:spPr>
      </p:pic>
      <p:pic>
        <p:nvPicPr>
          <p:cNvPr id="18" name="Content Placeholder 17" descr="A graph with blue lines&#10;&#10;AI-generated content may be incorrect.">
            <a:extLst>
              <a:ext uri="{FF2B5EF4-FFF2-40B4-BE49-F238E27FC236}">
                <a16:creationId xmlns:a16="http://schemas.microsoft.com/office/drawing/2014/main" id="{8C0F0A85-3244-9B92-BD29-74BE5A022EB3}"/>
              </a:ext>
            </a:extLst>
          </p:cNvPr>
          <p:cNvPicPr>
            <a:picLocks noGrp="1" noChangeAspect="1"/>
          </p:cNvPicPr>
          <p:nvPr>
            <p:ph idx="1"/>
          </p:nvPr>
        </p:nvPicPr>
        <p:blipFill>
          <a:blip r:embed="rId4"/>
          <a:stretch>
            <a:fillRect/>
          </a:stretch>
        </p:blipFill>
        <p:spPr>
          <a:xfrm>
            <a:off x="-210313" y="87486"/>
            <a:ext cx="10144609" cy="4894772"/>
          </a:xfrm>
          <a:prstGeom prst="rect">
            <a:avLst/>
          </a:prstGeom>
        </p:spPr>
      </p:pic>
      <p:cxnSp>
        <p:nvCxnSpPr>
          <p:cNvPr id="32" name="Straight Connector 31">
            <a:extLst>
              <a:ext uri="{FF2B5EF4-FFF2-40B4-BE49-F238E27FC236}">
                <a16:creationId xmlns:a16="http://schemas.microsoft.com/office/drawing/2014/main" id="{DC36F877-5419-44C1-A2CD-376BDDDC3E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667603"/>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1443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B75FD-2B94-D25F-8090-294ED3C2E138}"/>
              </a:ext>
            </a:extLst>
          </p:cNvPr>
          <p:cNvSpPr>
            <a:spLocks noGrp="1"/>
          </p:cNvSpPr>
          <p:nvPr>
            <p:ph type="title"/>
          </p:nvPr>
        </p:nvSpPr>
        <p:spPr>
          <a:xfrm>
            <a:off x="0" y="0"/>
            <a:ext cx="10689336" cy="798451"/>
          </a:xfrm>
        </p:spPr>
        <p:txBody>
          <a:bodyPr/>
          <a:lstStyle/>
          <a:p>
            <a:r>
              <a:rPr lang="en-US" dirty="0"/>
              <a:t>Experience VS </a:t>
            </a:r>
            <a:r>
              <a:rPr lang="en-US" dirty="0" err="1"/>
              <a:t>SAlary</a:t>
            </a:r>
            <a:endParaRPr lang="en-US" dirty="0"/>
          </a:p>
        </p:txBody>
      </p:sp>
      <p:sp>
        <p:nvSpPr>
          <p:cNvPr id="3" name="Text Placeholder 2">
            <a:extLst>
              <a:ext uri="{FF2B5EF4-FFF2-40B4-BE49-F238E27FC236}">
                <a16:creationId xmlns:a16="http://schemas.microsoft.com/office/drawing/2014/main" id="{62031FFB-E1E3-042E-F25B-B1FFEBF55257}"/>
              </a:ext>
            </a:extLst>
          </p:cNvPr>
          <p:cNvSpPr>
            <a:spLocks noGrp="1"/>
          </p:cNvSpPr>
          <p:nvPr>
            <p:ph type="body" idx="1"/>
          </p:nvPr>
        </p:nvSpPr>
        <p:spPr>
          <a:xfrm>
            <a:off x="6008318" y="5155468"/>
            <a:ext cx="5212080" cy="657225"/>
          </a:xfrm>
        </p:spPr>
        <p:txBody>
          <a:bodyPr>
            <a:normAutofit fontScale="85000" lnSpcReduction="10000"/>
          </a:bodyPr>
          <a:lstStyle/>
          <a:p>
            <a:r>
              <a:rPr lang="en-US" dirty="0"/>
              <a:t>Hiring a senior or executive role in data science could cost around $153k - $249k in the US. Offshore this could range from $91k – $130k.</a:t>
            </a:r>
          </a:p>
        </p:txBody>
      </p:sp>
      <p:pic>
        <p:nvPicPr>
          <p:cNvPr id="8" name="Content Placeholder 7" descr="A screenshot of a table&#10;&#10;AI-generated content may be incorrect.">
            <a:extLst>
              <a:ext uri="{FF2B5EF4-FFF2-40B4-BE49-F238E27FC236}">
                <a16:creationId xmlns:a16="http://schemas.microsoft.com/office/drawing/2014/main" id="{7EBCA964-71EA-ACC3-7531-F6E8A0172E16}"/>
              </a:ext>
            </a:extLst>
          </p:cNvPr>
          <p:cNvPicPr>
            <a:picLocks noGrp="1" noChangeAspect="1"/>
          </p:cNvPicPr>
          <p:nvPr>
            <p:ph sz="half" idx="2"/>
          </p:nvPr>
        </p:nvPicPr>
        <p:blipFill>
          <a:blip r:embed="rId3"/>
          <a:stretch>
            <a:fillRect/>
          </a:stretch>
        </p:blipFill>
        <p:spPr>
          <a:xfrm>
            <a:off x="313151" y="4197845"/>
            <a:ext cx="5211763" cy="2572472"/>
          </a:xfrm>
        </p:spPr>
      </p:pic>
      <p:sp>
        <p:nvSpPr>
          <p:cNvPr id="5" name="Text Placeholder 4">
            <a:extLst>
              <a:ext uri="{FF2B5EF4-FFF2-40B4-BE49-F238E27FC236}">
                <a16:creationId xmlns:a16="http://schemas.microsoft.com/office/drawing/2014/main" id="{DEAA6771-13E2-8769-4336-856F8B80EF8A}"/>
              </a:ext>
            </a:extLst>
          </p:cNvPr>
          <p:cNvSpPr>
            <a:spLocks noGrp="1"/>
          </p:cNvSpPr>
          <p:nvPr>
            <p:ph type="body" sz="quarter" idx="3"/>
          </p:nvPr>
        </p:nvSpPr>
        <p:spPr>
          <a:xfrm>
            <a:off x="5916613" y="6858000"/>
            <a:ext cx="5211763" cy="1094180"/>
          </a:xfrm>
        </p:spPr>
        <p:txBody>
          <a:bodyPr>
            <a:normAutofit fontScale="85000" lnSpcReduction="10000"/>
          </a:bodyPr>
          <a:lstStyle/>
          <a:p>
            <a:endParaRPr lang="en-US" dirty="0"/>
          </a:p>
        </p:txBody>
      </p:sp>
      <p:pic>
        <p:nvPicPr>
          <p:cNvPr id="10" name="Content Placeholder 9">
            <a:extLst>
              <a:ext uri="{FF2B5EF4-FFF2-40B4-BE49-F238E27FC236}">
                <a16:creationId xmlns:a16="http://schemas.microsoft.com/office/drawing/2014/main" id="{1B802C0D-CE15-6E8B-8129-F0CBAFAE391E}"/>
              </a:ext>
            </a:extLst>
          </p:cNvPr>
          <p:cNvPicPr>
            <a:picLocks noGrp="1" noChangeAspect="1"/>
          </p:cNvPicPr>
          <p:nvPr>
            <p:ph sz="quarter" idx="4"/>
          </p:nvPr>
        </p:nvPicPr>
        <p:blipFill>
          <a:blip r:embed="rId4"/>
          <a:stretch>
            <a:fillRect/>
          </a:stretch>
        </p:blipFill>
        <p:spPr>
          <a:xfrm>
            <a:off x="4556320" y="516304"/>
            <a:ext cx="7635680" cy="3771394"/>
          </a:xfrm>
        </p:spPr>
      </p:pic>
      <p:sp>
        <p:nvSpPr>
          <p:cNvPr id="13" name="TextBox 12">
            <a:extLst>
              <a:ext uri="{FF2B5EF4-FFF2-40B4-BE49-F238E27FC236}">
                <a16:creationId xmlns:a16="http://schemas.microsoft.com/office/drawing/2014/main" id="{68EB14C0-66CF-642A-7C6C-C8109BF05469}"/>
              </a:ext>
            </a:extLst>
          </p:cNvPr>
          <p:cNvSpPr txBox="1"/>
          <p:nvPr/>
        </p:nvSpPr>
        <p:spPr>
          <a:xfrm>
            <a:off x="225468" y="1027134"/>
            <a:ext cx="4058433" cy="646331"/>
          </a:xfrm>
          <a:prstGeom prst="rect">
            <a:avLst/>
          </a:prstGeom>
          <a:noFill/>
        </p:spPr>
        <p:txBody>
          <a:bodyPr wrap="square" rtlCol="0">
            <a:spAutoFit/>
          </a:bodyPr>
          <a:lstStyle/>
          <a:p>
            <a:r>
              <a:rPr lang="en-US" dirty="0"/>
              <a:t>Experience has an impact on salary. This is consistent in US and Offshore.</a:t>
            </a:r>
          </a:p>
        </p:txBody>
      </p:sp>
    </p:spTree>
    <p:extLst>
      <p:ext uri="{BB962C8B-B14F-4D97-AF65-F5344CB8AC3E}">
        <p14:creationId xmlns:p14="http://schemas.microsoft.com/office/powerpoint/2010/main" val="16028685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5E86D-FB2F-CAA2-EB0F-7B84730CD3DB}"/>
              </a:ext>
            </a:extLst>
          </p:cNvPr>
          <p:cNvSpPr>
            <a:spLocks noGrp="1"/>
          </p:cNvSpPr>
          <p:nvPr>
            <p:ph type="title"/>
          </p:nvPr>
        </p:nvSpPr>
        <p:spPr>
          <a:xfrm>
            <a:off x="700635" y="914400"/>
            <a:ext cx="10691265" cy="688932"/>
          </a:xfrm>
        </p:spPr>
        <p:txBody>
          <a:bodyPr>
            <a:normAutofit fontScale="90000"/>
          </a:bodyPr>
          <a:lstStyle/>
          <a:p>
            <a:r>
              <a:rPr lang="en-US" dirty="0"/>
              <a:t>Recommendation</a:t>
            </a:r>
          </a:p>
        </p:txBody>
      </p:sp>
      <p:pic>
        <p:nvPicPr>
          <p:cNvPr id="6" name="Content Placeholder 5" descr="A screenshot of a computer&#10;&#10;AI-generated content may be incorrect.">
            <a:extLst>
              <a:ext uri="{FF2B5EF4-FFF2-40B4-BE49-F238E27FC236}">
                <a16:creationId xmlns:a16="http://schemas.microsoft.com/office/drawing/2014/main" id="{AD4C2A67-E814-D1CC-B151-30F40CDFD511}"/>
              </a:ext>
            </a:extLst>
          </p:cNvPr>
          <p:cNvPicPr>
            <a:picLocks noGrp="1" noChangeAspect="1"/>
          </p:cNvPicPr>
          <p:nvPr>
            <p:ph sz="half" idx="1"/>
          </p:nvPr>
        </p:nvPicPr>
        <p:blipFill>
          <a:blip r:embed="rId3"/>
          <a:stretch>
            <a:fillRect/>
          </a:stretch>
        </p:blipFill>
        <p:spPr>
          <a:xfrm>
            <a:off x="1088942" y="1576308"/>
            <a:ext cx="3771157" cy="2183725"/>
          </a:xfrm>
        </p:spPr>
      </p:pic>
      <p:pic>
        <p:nvPicPr>
          <p:cNvPr id="8" name="Content Placeholder 7" descr="A screenshot of a computer&#10;&#10;AI-generated content may be incorrect.">
            <a:extLst>
              <a:ext uri="{FF2B5EF4-FFF2-40B4-BE49-F238E27FC236}">
                <a16:creationId xmlns:a16="http://schemas.microsoft.com/office/drawing/2014/main" id="{21DFDAF0-7694-6D50-4948-719EAAD9EE67}"/>
              </a:ext>
            </a:extLst>
          </p:cNvPr>
          <p:cNvPicPr>
            <a:picLocks noGrp="1" noChangeAspect="1"/>
          </p:cNvPicPr>
          <p:nvPr>
            <p:ph sz="half" idx="2"/>
          </p:nvPr>
        </p:nvPicPr>
        <p:blipFill>
          <a:blip r:embed="rId4"/>
          <a:stretch>
            <a:fillRect/>
          </a:stretch>
        </p:blipFill>
        <p:spPr>
          <a:xfrm>
            <a:off x="6620136" y="1258866"/>
            <a:ext cx="4871229" cy="2151459"/>
          </a:xfrm>
        </p:spPr>
      </p:pic>
      <p:sp>
        <p:nvSpPr>
          <p:cNvPr id="9" name="TextBox 8">
            <a:extLst>
              <a:ext uri="{FF2B5EF4-FFF2-40B4-BE49-F238E27FC236}">
                <a16:creationId xmlns:a16="http://schemas.microsoft.com/office/drawing/2014/main" id="{51F46300-E869-ADB6-D611-766FF3B4E01E}"/>
              </a:ext>
            </a:extLst>
          </p:cNvPr>
          <p:cNvSpPr txBox="1"/>
          <p:nvPr/>
        </p:nvSpPr>
        <p:spPr>
          <a:xfrm>
            <a:off x="914400" y="4133589"/>
            <a:ext cx="6200384" cy="923330"/>
          </a:xfrm>
          <a:prstGeom prst="rect">
            <a:avLst/>
          </a:prstGeom>
          <a:noFill/>
        </p:spPr>
        <p:txBody>
          <a:bodyPr wrap="square" rtlCol="0">
            <a:spAutoFit/>
          </a:bodyPr>
          <a:lstStyle/>
          <a:p>
            <a:r>
              <a:rPr lang="en-US" dirty="0"/>
              <a:t>I recommend we hire a Senior Data Scientist to get the team started. We can pay them a salary of $167,000 which seems suitable to his experience. </a:t>
            </a:r>
          </a:p>
        </p:txBody>
      </p:sp>
    </p:spTree>
    <p:extLst>
      <p:ext uri="{BB962C8B-B14F-4D97-AF65-F5344CB8AC3E}">
        <p14:creationId xmlns:p14="http://schemas.microsoft.com/office/powerpoint/2010/main" val="3414150484"/>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679</TotalTime>
  <Words>389</Words>
  <Application>Microsoft Macintosh PowerPoint</Application>
  <PresentationFormat>Widescreen</PresentationFormat>
  <Paragraphs>15</Paragraphs>
  <Slides>4</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vt:i4>
      </vt:variant>
    </vt:vector>
  </HeadingPairs>
  <TitlesOfParts>
    <vt:vector size="9" baseType="lpstr">
      <vt:lpstr>Aptos</vt:lpstr>
      <vt:lpstr>Arial</vt:lpstr>
      <vt:lpstr>Calisto MT</vt:lpstr>
      <vt:lpstr>Univers Condensed</vt:lpstr>
      <vt:lpstr>ChronicleVTI</vt:lpstr>
      <vt:lpstr>Salary Analysis</vt:lpstr>
      <vt:lpstr>Salary range</vt:lpstr>
      <vt:lpstr>Experience VS SAlary</vt:lpstr>
      <vt:lpstr>Recommendation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Delacruz, Ruthbell</dc:creator>
  <cp:lastModifiedBy>Delacruz, Ruthbell</cp:lastModifiedBy>
  <cp:revision>2</cp:revision>
  <dcterms:created xsi:type="dcterms:W3CDTF">2025-11-30T06:45:41Z</dcterms:created>
  <dcterms:modified xsi:type="dcterms:W3CDTF">2025-11-30T18:05:39Z</dcterms:modified>
</cp:coreProperties>
</file>